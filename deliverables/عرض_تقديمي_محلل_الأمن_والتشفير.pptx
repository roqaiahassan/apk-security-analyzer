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890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ابدأ بتعريف المشروع كمنصة محلية لتحليل ملفات APK أمنيًا وتشفيريًا. وضّح أن العرض مختصر ومبني على الكود والواجهات الفعلية.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هذه الشريحة تبني القصة الأساسية: المشروع يعالج صعوبة الفحص اليدوي بتجميع مراحل الكشف والعرض والتقرير في منصة واحدة.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اشرح المسار من رفع الملف إلى التقرير. في المسار الحديث يبدأ التحليل عبر API ثم يعمل كـ Background Task وتُرسل مراحل التقدم عبر WebSocket.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هذه أهم طبقات التنفيذ فقط. لا تدخل في تفاصيل كل ملف؛ ركز على أن النظام مقسم إلى واجهة، API، محللات، قواعد، تخزين وتقارير.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اذكر أن الكشف موزع على محركات متخصصة، وأن Security Score يبدأ من 100 ويخصم بحسب مستوى الخطورة. هذه أرقام ثابتة موثقة في score.py.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اعرض الواجهات الحقيقية: الصفحة التعريفية، لوحة التحليل، ومختبر التشفير. توجد أيضًا صفحة history للسجل والمقارنة.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يوضح هذا الجمع أن المشروع ليس مجرد واجهة فحص: توجد وظيفة تعليمية للتشفير، وتوجد طبقة تخزين تحفظ نتائج الفحوصات وتدعم التاريخ والتقرير.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ميز بين الاختبارات المعرفة في الملفات وبين نتائج تشغيل مستقلة. لا نعرض نسب نجاح غير موجودة. النتيجة الموثقة هي وجود هذه الوظائف في الكود.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اختم بأن المشروع يحقق منصة فحص أولي متعددة المحاور. اذكر القيود بصدق: مساران مختلفان، تحليل DEX محدود، وبعض بيانات التوقيع افتراضية.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افتح باب الأسئلة. الإجابات الأساسية: التحليل يبدأ عبر POST /api/upload، الدرجة تعتمد على severity، وDEX يستخرج السلاسل النصية، ويوجد مساران مختلفان للتشغيل.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00D9E8"/>
                </a:solidFill>
                <a:latin typeface="Arial"/>
              </a:rPr>
              <a:t>ANDROID ANALYZER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F4F6FB"/>
                </a:solidFill>
                <a:latin typeface="Arial"/>
              </a:rPr>
              <a:t>محلل أمن تطبيقات Android والتحليل التشفيري للثغرات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0">
                <a:solidFill>
                  <a:srgbClr val="A9B4C8"/>
                </a:solidFill>
                <a:latin typeface="Arial"/>
              </a:rPr>
              <a:t>عرض مختصر مبني على المشروع الفعلي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05156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3800" b="1">
                <a:solidFill>
                  <a:srgbClr val="7957FF"/>
                </a:solidFill>
                <a:latin typeface="Arial"/>
              </a:rPr>
              <a:t>ANDROID
ANALYZER PRO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10332720" cy="731520"/>
          </a:xfrm>
          <a:prstGeom prst="roundRect">
            <a:avLst/>
          </a:prstGeom>
          <a:solidFill>
            <a:srgbClr val="121B31"/>
          </a:solidFill>
          <a:ln w="12700">
            <a:solidFill>
              <a:srgbClr val="263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370832"/>
            <a:ext cx="9875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4F6FB"/>
                </a:solidFill>
                <a:latin typeface="Arial"/>
              </a:rPr>
              <a:t>Static APK Analysis   |   Cryptography   |   Security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07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A9B4C8"/>
                </a:solidFill>
                <a:latin typeface="Arial"/>
              </a:rPr>
              <a:t>اسم الجامعة والمادة والفريق غير موجود في ملفات المشروع ويُترك للتعبئة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00D9E8"/>
                </a:solidFill>
                <a:latin typeface="Arial"/>
              </a:rPr>
              <a:t>ANDROID ANALYZER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F4F6FB"/>
                </a:solidFill>
                <a:latin typeface="Arial"/>
              </a:rPr>
              <a:t>من المشكلة إلى الحل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4983480" cy="4389120"/>
          </a:xfrm>
          <a:prstGeom prst="roundRect">
            <a:avLst/>
          </a:prstGeom>
          <a:solidFill>
            <a:srgbClr val="171B2F"/>
          </a:solidFill>
          <a:ln w="12700">
            <a:solidFill>
              <a:srgbClr val="51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FF8BA7"/>
                </a:solidFill>
                <a:latin typeface="Arial"/>
              </a:rPr>
              <a:t>المشكلة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434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300"/>
              </a:spcAft>
              <a:defRPr sz="1700">
                <a:solidFill>
                  <a:srgbClr val="F4F6FB"/>
                </a:solidFill>
                <a:latin typeface="Arial"/>
              </a:defRPr>
            </a:pPr>
            <a:r>
              <a:t>• فحص APK يدويًا يستغرق وقتًا</a:t>
            </a:r>
          </a:p>
          <a:p>
            <a:pPr algn="r">
              <a:spcAft>
                <a:spcPts val="1300"/>
              </a:spcAft>
              <a:defRPr sz="1700">
                <a:solidFill>
                  <a:srgbClr val="F4F6FB"/>
                </a:solidFill>
                <a:latin typeface="Arial"/>
              </a:defRPr>
            </a:pPr>
            <a:r>
              <a:t>• خوارزميات ضعيفة وأسرار داخل الكود</a:t>
            </a:r>
          </a:p>
          <a:p>
            <a:pPr algn="r">
              <a:spcAft>
                <a:spcPts val="1300"/>
              </a:spcAft>
              <a:defRPr sz="1700">
                <a:solidFill>
                  <a:srgbClr val="F4F6FB"/>
                </a:solidFill>
                <a:latin typeface="Arial"/>
              </a:defRPr>
            </a:pPr>
            <a:r>
              <a:t>• صعوبة جمع النتائج والتوصيات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417320"/>
            <a:ext cx="4983480" cy="4389120"/>
          </a:xfrm>
          <a:prstGeom prst="roundRect">
            <a:avLst/>
          </a:prstGeom>
          <a:solidFill>
            <a:srgbClr val="12243C"/>
          </a:solidFill>
          <a:ln w="12700">
            <a:solidFill>
              <a:srgbClr val="1C8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645920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00D9E8"/>
                </a:solidFill>
                <a:latin typeface="Arial"/>
              </a:rPr>
              <a:t>الحل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40280"/>
            <a:ext cx="4434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300"/>
              </a:spcAft>
              <a:defRPr sz="1700">
                <a:solidFill>
                  <a:srgbClr val="F4F6FB"/>
                </a:solidFill>
                <a:latin typeface="Arial"/>
              </a:defRPr>
            </a:pPr>
            <a:r>
              <a:t>• رفع APK وتحليله ساكنًا</a:t>
            </a:r>
          </a:p>
          <a:p>
            <a:pPr algn="r">
              <a:spcAft>
                <a:spcPts val="1300"/>
              </a:spcAft>
              <a:defRPr sz="1700">
                <a:solidFill>
                  <a:srgbClr val="F4F6FB"/>
                </a:solidFill>
                <a:latin typeface="Arial"/>
              </a:defRPr>
            </a:pPr>
            <a:r>
              <a:t>• محللات للتشفير والأسرار والشبكة</a:t>
            </a:r>
          </a:p>
          <a:p>
            <a:pPr algn="r">
              <a:spcAft>
                <a:spcPts val="1300"/>
              </a:spcAft>
              <a:defRPr sz="1700">
                <a:solidFill>
                  <a:srgbClr val="F4F6FB"/>
                </a:solidFill>
                <a:latin typeface="Arial"/>
              </a:defRPr>
            </a:pPr>
            <a:r>
              <a:t>• تصنيف findings ودرجة أمنية وتقرير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3154680"/>
            <a:ext cx="1325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7957FF"/>
                </a:solidFill>
                <a:latin typeface="Arial"/>
              </a:rPr>
              <a:t>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00D9E8"/>
                </a:solidFill>
                <a:latin typeface="Arial"/>
              </a:rPr>
              <a:t>ANDROID ANALYZER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F4F6FB"/>
                </a:solidFill>
                <a:latin typeface="Arial"/>
              </a:rPr>
              <a:t>كيف يعمل النظام؟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783080" cy="1600200"/>
          </a:xfrm>
          <a:prstGeom prst="roundRect">
            <a:avLst/>
          </a:prstGeom>
          <a:solidFill>
            <a:srgbClr val="17233E"/>
          </a:solidFill>
          <a:ln w="12700">
            <a:solidFill>
              <a:srgbClr val="263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D9E8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508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6FB"/>
                </a:solidFill>
                <a:latin typeface="Arial"/>
              </a:rPr>
              <a:t>رفع APK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6312" y="2487168"/>
            <a:ext cx="38404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7957FF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53512" y="1965960"/>
            <a:ext cx="1783080" cy="1600200"/>
          </a:xfrm>
          <a:prstGeom prst="roundRect">
            <a:avLst/>
          </a:prstGeom>
          <a:solidFill>
            <a:srgbClr val="17233E"/>
          </a:solidFill>
          <a:ln w="12700">
            <a:solidFill>
              <a:srgbClr val="263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90672" y="2176272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D9E8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508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6FB"/>
                </a:solidFill>
                <a:latin typeface="Arial"/>
              </a:rPr>
              <a:t>حساب الهاشات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2487168"/>
            <a:ext cx="38404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7957FF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1224" y="1965960"/>
            <a:ext cx="1783080" cy="1600200"/>
          </a:xfrm>
          <a:prstGeom prst="roundRect">
            <a:avLst/>
          </a:prstGeom>
          <a:solidFill>
            <a:srgbClr val="17233E"/>
          </a:solidFill>
          <a:ln w="12700">
            <a:solidFill>
              <a:srgbClr val="263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58384" y="2176272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D9E8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4" y="2743200"/>
            <a:ext cx="1508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6FB"/>
                </a:solidFill>
                <a:latin typeface="Arial"/>
              </a:rPr>
              <a:t>Manifest وDEX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87168"/>
            <a:ext cx="38404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7957FF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88936" y="1965960"/>
            <a:ext cx="1783080" cy="1600200"/>
          </a:xfrm>
          <a:prstGeom prst="roundRect">
            <a:avLst/>
          </a:prstGeom>
          <a:solidFill>
            <a:srgbClr val="17233E"/>
          </a:solidFill>
          <a:ln w="12700">
            <a:solidFill>
              <a:srgbClr val="263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26096" y="2176272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D9E8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6096" y="2743200"/>
            <a:ext cx="1508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6FB"/>
                </a:solidFill>
                <a:latin typeface="Arial"/>
              </a:rPr>
              <a:t>المحللات والقواعد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2487168"/>
            <a:ext cx="38404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7957FF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56648" y="1965960"/>
            <a:ext cx="1783080" cy="1600200"/>
          </a:xfrm>
          <a:prstGeom prst="roundRect">
            <a:avLst/>
          </a:prstGeom>
          <a:solidFill>
            <a:srgbClr val="17233E"/>
          </a:solidFill>
          <a:ln w="12700">
            <a:solidFill>
              <a:srgbClr val="263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93808" y="2176272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D9E8"/>
                </a:solidFill>
                <a:latin typeface="Arial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3808" y="2743200"/>
            <a:ext cx="1508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6FB"/>
                </a:solidFill>
                <a:latin typeface="Arial"/>
              </a:rPr>
              <a:t>الدرجة والتقرير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4572000"/>
            <a:ext cx="9372600" cy="685800"/>
          </a:xfrm>
          <a:prstGeom prst="roundRect">
            <a:avLst/>
          </a:prstGeom>
          <a:solidFill>
            <a:srgbClr val="121B31"/>
          </a:solidFill>
          <a:ln w="12700">
            <a:solidFill>
              <a:srgbClr val="263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00200" y="4764024"/>
            <a:ext cx="8915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4F6FB"/>
                </a:solidFill>
                <a:latin typeface="Arial"/>
              </a:rPr>
              <a:t>النتيجة: findings مع مستوى الخطورة والسبب والتوصية والبديل الآمن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00D9E8"/>
                </a:solidFill>
                <a:latin typeface="Arial"/>
              </a:rPr>
              <a:t>ANDROID ANALYZER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F4F6FB"/>
                </a:solidFill>
                <a:latin typeface="Arial"/>
              </a:rPr>
              <a:t>البنية التقنية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577840" cy="4526280"/>
          </a:xfrm>
          <a:prstGeom prst="roundRect">
            <a:avLst/>
          </a:prstGeom>
          <a:solidFill>
            <a:srgbClr val="17233E"/>
          </a:solidFill>
          <a:ln w="12700">
            <a:solidFill>
              <a:srgbClr val="263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1">
                <a:solidFill>
                  <a:srgbClr val="00D9E8"/>
                </a:solidFill>
                <a:latin typeface="Arial"/>
              </a:rPr>
              <a:t>المكونات الأساسية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983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300"/>
              </a:spcAft>
              <a:defRPr sz="1600">
                <a:solidFill>
                  <a:srgbClr val="F4F6FB"/>
                </a:solidFill>
                <a:latin typeface="Arial"/>
              </a:defRPr>
            </a:pPr>
            <a:r>
              <a:t>• Frontend: HTML / CSS / JavaScript</a:t>
            </a:r>
          </a:p>
          <a:p>
            <a:pPr algn="r">
              <a:spcAft>
                <a:spcPts val="1300"/>
              </a:spcAft>
              <a:defRPr sz="1600">
                <a:solidFill>
                  <a:srgbClr val="F4F6FB"/>
                </a:solidFill>
                <a:latin typeface="Arial"/>
              </a:defRPr>
            </a:pPr>
            <a:r>
              <a:t>• FastAPI + REST + WebSocket</a:t>
            </a:r>
          </a:p>
          <a:p>
            <a:pPr algn="r">
              <a:spcAft>
                <a:spcPts val="1300"/>
              </a:spcAft>
              <a:defRPr sz="1600">
                <a:solidFill>
                  <a:srgbClr val="F4F6FB"/>
                </a:solidFill>
                <a:latin typeface="Arial"/>
              </a:defRPr>
            </a:pPr>
            <a:r>
              <a:t>• Analyzers: APK، Manifest، DEX، Crypto، Secrets، Network</a:t>
            </a:r>
          </a:p>
          <a:p>
            <a:pPr algn="r">
              <a:spcAft>
                <a:spcPts val="1300"/>
              </a:spcAft>
              <a:defRPr sz="1600">
                <a:solidFill>
                  <a:srgbClr val="F4F6FB"/>
                </a:solidFill>
                <a:latin typeface="Arial"/>
              </a:defRPr>
            </a:pPr>
            <a:r>
              <a:t>• SQLite + JSON Rules + ReportLab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325880"/>
            <a:ext cx="4754880" cy="4526280"/>
          </a:xfrm>
          <a:prstGeom prst="roundRect">
            <a:avLst/>
          </a:prstGeom>
          <a:solidFill>
            <a:srgbClr val="121B31"/>
          </a:solidFill>
          <a:ln w="12700">
            <a:solidFill>
              <a:srgbClr val="263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03720" y="1572768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1">
                <a:solidFill>
                  <a:srgbClr val="7957FF"/>
                </a:solidFill>
                <a:latin typeface="Arial"/>
              </a:rPr>
              <a:t>التقنيات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2240280"/>
            <a:ext cx="1874519" cy="530352"/>
          </a:xfrm>
          <a:prstGeom prst="roundRect">
            <a:avLst/>
          </a:prstGeom>
          <a:solidFill>
            <a:srgbClr val="1A2B4B"/>
          </a:solidFill>
          <a:ln w="12700">
            <a:solidFill>
              <a:srgbClr val="355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68312" y="2350008"/>
            <a:ext cx="1737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6FB"/>
                </a:solidFill>
                <a:latin typeface="Arial"/>
              </a:rPr>
              <a:t>Python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240280"/>
            <a:ext cx="1874519" cy="530352"/>
          </a:xfrm>
          <a:prstGeom prst="roundRect">
            <a:avLst/>
          </a:prstGeom>
          <a:solidFill>
            <a:srgbClr val="1A2B4B"/>
          </a:solidFill>
          <a:ln w="12700">
            <a:solidFill>
              <a:srgbClr val="355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17152" y="2350008"/>
            <a:ext cx="1737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6FB"/>
                </a:solidFill>
                <a:latin typeface="Arial"/>
              </a:rPr>
              <a:t>FastAPI / Uvicorn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3081528"/>
            <a:ext cx="1874519" cy="530352"/>
          </a:xfrm>
          <a:prstGeom prst="roundRect">
            <a:avLst/>
          </a:prstGeom>
          <a:solidFill>
            <a:srgbClr val="1A2B4B"/>
          </a:solidFill>
          <a:ln w="12700">
            <a:solidFill>
              <a:srgbClr val="355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68312" y="3191256"/>
            <a:ext cx="1737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6FB"/>
                </a:solidFill>
                <a:latin typeface="Arial"/>
              </a:rPr>
              <a:t>SQLite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3081528"/>
            <a:ext cx="1874519" cy="530352"/>
          </a:xfrm>
          <a:prstGeom prst="roundRect">
            <a:avLst/>
          </a:prstGeom>
          <a:solidFill>
            <a:srgbClr val="1A2B4B"/>
          </a:solidFill>
          <a:ln w="12700">
            <a:solidFill>
              <a:srgbClr val="355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17152" y="3191256"/>
            <a:ext cx="1737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6FB"/>
                </a:solidFill>
                <a:latin typeface="Arial"/>
              </a:rPr>
              <a:t>Cryptography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3922776"/>
            <a:ext cx="1874519" cy="530352"/>
          </a:xfrm>
          <a:prstGeom prst="roundRect">
            <a:avLst/>
          </a:prstGeom>
          <a:solidFill>
            <a:srgbClr val="1A2B4B"/>
          </a:solidFill>
          <a:ln w="12700">
            <a:solidFill>
              <a:srgbClr val="355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68312" y="4032504"/>
            <a:ext cx="1737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6FB"/>
                </a:solidFill>
                <a:latin typeface="Arial"/>
              </a:rPr>
              <a:t>Chart.js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922776"/>
            <a:ext cx="1874519" cy="530352"/>
          </a:xfrm>
          <a:prstGeom prst="roundRect">
            <a:avLst/>
          </a:prstGeom>
          <a:solidFill>
            <a:srgbClr val="1A2B4B"/>
          </a:solidFill>
          <a:ln w="12700">
            <a:solidFill>
              <a:srgbClr val="355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17152" y="4032504"/>
            <a:ext cx="1737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6FB"/>
                </a:solidFill>
                <a:latin typeface="Arial"/>
              </a:rPr>
              <a:t>ReportLab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00D9E8"/>
                </a:solidFill>
                <a:latin typeface="Arial"/>
              </a:rPr>
              <a:t>ANDROID ANALYZER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F4F6FB"/>
                </a:solidFill>
                <a:latin typeface="Arial"/>
              </a:rPr>
              <a:t>ما الذي يكتشفه النظام؟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37560" cy="2011680"/>
          </a:xfrm>
          <a:prstGeom prst="roundRect">
            <a:avLst/>
          </a:prstGeom>
          <a:solidFill>
            <a:srgbClr val="17233E"/>
          </a:solidFill>
          <a:ln w="12700">
            <a:solidFill>
              <a:srgbClr val="263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2971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D9E8"/>
                </a:solidFill>
                <a:latin typeface="Arial"/>
              </a:rPr>
              <a:t>تشفير ضعيف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880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4F6FB"/>
                </a:solidFill>
                <a:latin typeface="Arial"/>
              </a:rPr>
              <a:t>AES/ECB · DES · 3DES
MD5 · SHA-1 · RSA ضعيف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08760"/>
            <a:ext cx="3337560" cy="2011680"/>
          </a:xfrm>
          <a:prstGeom prst="roundRect">
            <a:avLst/>
          </a:prstGeom>
          <a:solidFill>
            <a:srgbClr val="17233E"/>
          </a:solidFill>
          <a:ln w="12700">
            <a:solidFill>
              <a:srgbClr val="263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755648"/>
            <a:ext cx="2971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7957FF"/>
                </a:solidFill>
                <a:latin typeface="Arial"/>
              </a:rPr>
              <a:t>أسرار ومفاتيح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331720"/>
            <a:ext cx="2880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4F6FB"/>
                </a:solidFill>
                <a:latin typeface="Arial"/>
              </a:rPr>
              <a:t>Hardcoded Keys
Passwords · API Keys · JWT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508760"/>
            <a:ext cx="3337560" cy="2011680"/>
          </a:xfrm>
          <a:prstGeom prst="roundRect">
            <a:avLst/>
          </a:prstGeom>
          <a:solidFill>
            <a:srgbClr val="17233E"/>
          </a:solidFill>
          <a:ln w="12700">
            <a:solidFill>
              <a:srgbClr val="263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1755648"/>
            <a:ext cx="2971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7957FF"/>
                </a:solidFill>
                <a:latin typeface="Arial"/>
              </a:rPr>
              <a:t>شبكة وإعدادات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331720"/>
            <a:ext cx="2880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4F6FB"/>
                </a:solidFill>
                <a:latin typeface="Arial"/>
              </a:rPr>
              <a:t>HTTP واضح
TrustAllManager · صلاحيات حساسة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1">
                <a:solidFill>
                  <a:srgbClr val="00D9E8"/>
                </a:solidFill>
                <a:latin typeface="Arial"/>
              </a:rPr>
              <a:t>درجة الأمان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794760"/>
            <a:ext cx="2148840" cy="1115568"/>
          </a:xfrm>
          <a:prstGeom prst="roundRect">
            <a:avLst/>
          </a:prstGeom>
          <a:solidFill>
            <a:srgbClr val="17233E"/>
          </a:solidFill>
          <a:ln w="12700">
            <a:solidFill>
              <a:srgbClr val="263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98848" y="3904488"/>
            <a:ext cx="1920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00D9E8"/>
                </a:solidFill>
                <a:latin typeface="Arial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4407408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9B4C8"/>
                </a:solidFill>
                <a:latin typeface="Arial"/>
              </a:rPr>
              <a:t>بداية الدرجة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3794760"/>
            <a:ext cx="2148840" cy="1115568"/>
          </a:xfrm>
          <a:prstGeom prst="roundRect">
            <a:avLst/>
          </a:prstGeom>
          <a:solidFill>
            <a:srgbClr val="17233E"/>
          </a:solidFill>
          <a:ln w="12700">
            <a:solidFill>
              <a:srgbClr val="263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22008" y="3904488"/>
            <a:ext cx="1920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00D9E8"/>
                </a:solidFill>
                <a:latin typeface="Arial"/>
              </a:rPr>
              <a:t>-15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4407408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9B4C8"/>
                </a:solidFill>
                <a:latin typeface="Arial"/>
              </a:rPr>
              <a:t>Critical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3794760"/>
            <a:ext cx="2148840" cy="1115568"/>
          </a:xfrm>
          <a:prstGeom prst="roundRect">
            <a:avLst/>
          </a:prstGeom>
          <a:solidFill>
            <a:srgbClr val="17233E"/>
          </a:solidFill>
          <a:ln w="12700">
            <a:solidFill>
              <a:srgbClr val="263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45167" y="3904488"/>
            <a:ext cx="1920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00D9E8"/>
                </a:solidFill>
                <a:latin typeface="Arial"/>
              </a:rPr>
              <a:t>-8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7" y="4407408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9B4C8"/>
                </a:solidFill>
                <a:latin typeface="Arial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57800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A9B4C8"/>
                </a:solidFill>
                <a:latin typeface="Arial"/>
              </a:rPr>
              <a:t>Medium = -4   |   Low = -1   |   النتيجة تُحصر بين 0 و100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00D9E8"/>
                </a:solidFill>
                <a:latin typeface="Arial"/>
              </a:rPr>
              <a:t>ANDROID ANALYZER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F4F6FB"/>
                </a:solidFill>
                <a:latin typeface="Arial"/>
              </a:rPr>
              <a:t>الواجهات الفعلية للمشروع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71600"/>
            <a:ext cx="3520440" cy="2078243"/>
          </a:xfrm>
          <a:prstGeom prst="rect">
            <a:avLst/>
          </a:prstGeom>
        </p:spPr>
      </p:pic>
      <p:pic>
        <p:nvPicPr>
          <p:cNvPr id="7" name="Picture 6" descr="crypto_l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371600"/>
            <a:ext cx="3520440" cy="14864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897880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A9B4C8"/>
                </a:solidFill>
                <a:latin typeface="Arial"/>
              </a:rPr>
              <a:t>الصفحة الرئيسية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897880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A9B4C8"/>
                </a:solidFill>
                <a:latin typeface="Arial"/>
              </a:rPr>
              <a:t>لوحة التحليل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5897880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A9B4C8"/>
                </a:solidFill>
                <a:latin typeface="Arial"/>
              </a:rPr>
              <a:t>مختبر التشفير</a:t>
            </a:r>
          </a:p>
        </p:txBody>
      </p:sp>
      <p:pic>
        <p:nvPicPr>
          <p:cNvPr id="12" name="صورة 11">
            <a:extLst>
              <a:ext uri="{FF2B5EF4-FFF2-40B4-BE49-F238E27FC236}">
                <a16:creationId xmlns:a16="http://schemas.microsoft.com/office/drawing/2014/main" id="{69AE4295-6B23-0C2D-EC4F-3DAFE6071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5" y="1472767"/>
            <a:ext cx="3849625" cy="18527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00D9E8"/>
                </a:solidFill>
                <a:latin typeface="Arial"/>
              </a:rPr>
              <a:t>ANDROID ANALYZER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F4F6FB"/>
                </a:solidFill>
                <a:latin typeface="Arial"/>
              </a:rPr>
              <a:t>وظيفتان واضحتان: التشفير والتخزين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4434840"/>
          </a:xfrm>
          <a:prstGeom prst="roundRect">
            <a:avLst/>
          </a:prstGeom>
          <a:solidFill>
            <a:srgbClr val="17233E"/>
          </a:solidFill>
          <a:ln w="12700">
            <a:solidFill>
              <a:srgbClr val="263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>
                <a:solidFill>
                  <a:srgbClr val="00D9E8"/>
                </a:solidFill>
                <a:latin typeface="Arial"/>
              </a:rPr>
              <a:t>Crypto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300"/>
              </a:spcAft>
              <a:defRPr sz="1600">
                <a:solidFill>
                  <a:srgbClr val="F4F6FB"/>
                </a:solidFill>
                <a:latin typeface="Arial"/>
              </a:defRPr>
            </a:pPr>
            <a:r>
              <a:t>• Caesar · Vigenere · Monoalphabetic</a:t>
            </a:r>
          </a:p>
          <a:p>
            <a:pPr algn="r">
              <a:spcAft>
                <a:spcPts val="1300"/>
              </a:spcAft>
              <a:defRPr sz="1600">
                <a:solidFill>
                  <a:srgbClr val="F4F6FB"/>
                </a:solidFill>
                <a:latin typeface="Arial"/>
              </a:defRPr>
            </a:pPr>
            <a:r>
              <a:t>• AES-128 · Triple DES</a:t>
            </a:r>
          </a:p>
          <a:p>
            <a:pPr algn="r">
              <a:spcAft>
                <a:spcPts val="1300"/>
              </a:spcAft>
              <a:defRPr sz="1600">
                <a:solidFill>
                  <a:srgbClr val="F4F6FB"/>
                </a:solidFill>
                <a:latin typeface="Arial"/>
              </a:defRPr>
            </a:pPr>
            <a:r>
              <a:t>• MD5 · SHA-1 · SHA-256 · SHA-512 · SHA3-256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166360" cy="4434840"/>
          </a:xfrm>
          <a:prstGeom prst="roundRect">
            <a:avLst/>
          </a:prstGeom>
          <a:solidFill>
            <a:srgbClr val="121B31"/>
          </a:solidFill>
          <a:ln w="12700">
            <a:solidFill>
              <a:srgbClr val="263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663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>
                <a:solidFill>
                  <a:srgbClr val="7957FF"/>
                </a:solidFill>
                <a:latin typeface="Arial"/>
              </a:rPr>
              <a:t>SQLite: scans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617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300"/>
              </a:spcAft>
              <a:defRPr sz="1600">
                <a:solidFill>
                  <a:srgbClr val="F4F6FB"/>
                </a:solidFill>
                <a:latin typeface="Arial"/>
              </a:defRPr>
            </a:pPr>
            <a:r>
              <a:t>• بيانات التطبيق والبصمات</a:t>
            </a:r>
          </a:p>
          <a:p>
            <a:pPr algn="r">
              <a:spcAft>
                <a:spcPts val="1300"/>
              </a:spcAft>
              <a:defRPr sz="1600">
                <a:solidFill>
                  <a:srgbClr val="F4F6FB"/>
                </a:solidFill>
                <a:latin typeface="Arial"/>
              </a:defRPr>
            </a:pPr>
            <a:r>
              <a:t>• الدرجة وعدادات الخطورة</a:t>
            </a:r>
          </a:p>
          <a:p>
            <a:pPr algn="r">
              <a:spcAft>
                <a:spcPts val="1300"/>
              </a:spcAft>
              <a:defRPr sz="1600">
                <a:solidFill>
                  <a:srgbClr val="F4F6FB"/>
                </a:solidFill>
                <a:latin typeface="Arial"/>
              </a:defRPr>
            </a:pPr>
            <a:r>
              <a:t>• raw_results بصيغة JSON</a:t>
            </a:r>
          </a:p>
          <a:p>
            <a:pPr algn="r">
              <a:spcAft>
                <a:spcPts val="1300"/>
              </a:spcAft>
              <a:defRPr sz="1600">
                <a:solidFill>
                  <a:srgbClr val="F4F6FB"/>
                </a:solidFill>
                <a:latin typeface="Arial"/>
              </a:defRPr>
            </a:pPr>
            <a:r>
              <a:t>• السجل والتقارير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00D9E8"/>
                </a:solidFill>
                <a:latin typeface="Arial"/>
              </a:rPr>
              <a:t>ANDROID ANALYZER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F4F6FB"/>
                </a:solidFill>
                <a:latin typeface="Arial"/>
              </a:rPr>
              <a:t>الاختبارات والنتيجة الفعلية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03520" cy="4434840"/>
          </a:xfrm>
          <a:prstGeom prst="roundRect">
            <a:avLst/>
          </a:prstGeom>
          <a:solidFill>
            <a:srgbClr val="17233E"/>
          </a:solidFill>
          <a:ln w="12700">
            <a:solidFill>
              <a:srgbClr val="263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1">
                <a:solidFill>
                  <a:srgbClr val="00D9E8"/>
                </a:solidFill>
                <a:latin typeface="Arial"/>
              </a:rPr>
              <a:t>اختبارات معرفة في المشروع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300"/>
              </a:spcAft>
              <a:defRPr sz="1700">
                <a:solidFill>
                  <a:srgbClr val="F4F6FB"/>
                </a:solidFill>
                <a:latin typeface="Arial"/>
              </a:defRPr>
            </a:pPr>
            <a:r>
              <a:t>• Caesar وVigenere</a:t>
            </a:r>
          </a:p>
          <a:p>
            <a:pPr algn="r">
              <a:spcAft>
                <a:spcPts val="1300"/>
              </a:spcAft>
              <a:defRPr sz="1700">
                <a:solidFill>
                  <a:srgbClr val="F4F6FB"/>
                </a:solidFill>
                <a:latin typeface="Arial"/>
              </a:defRPr>
            </a:pPr>
            <a:r>
              <a:t>• SHA-256 بطول 64</a:t>
            </a:r>
          </a:p>
          <a:p>
            <a:pPr algn="r">
              <a:spcAft>
                <a:spcPts val="1300"/>
              </a:spcAft>
              <a:defRPr sz="1700">
                <a:solidFill>
                  <a:srgbClr val="F4F6FB"/>
                </a:solidFill>
                <a:latin typeface="Arial"/>
              </a:defRPr>
            </a:pPr>
            <a:r>
              <a:t>• صلاحية ZIP واسم الحزمة</a:t>
            </a:r>
          </a:p>
          <a:p>
            <a:pPr algn="r">
              <a:spcAft>
                <a:spcPts val="1300"/>
              </a:spcAft>
              <a:defRPr sz="1700">
                <a:solidFill>
                  <a:srgbClr val="F4F6FB"/>
                </a:solidFill>
                <a:latin typeface="Arial"/>
              </a:defRPr>
            </a:pPr>
            <a:r>
              <a:t>• اكتشاف RULE-002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074920" cy="4434840"/>
          </a:xfrm>
          <a:prstGeom prst="roundRect">
            <a:avLst/>
          </a:prstGeom>
          <a:solidFill>
            <a:srgbClr val="171B2F"/>
          </a:solidFill>
          <a:ln w="12700">
            <a:solidFill>
              <a:srgbClr val="51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1">
                <a:solidFill>
                  <a:srgbClr val="7957FF"/>
                </a:solidFill>
                <a:latin typeface="Arial"/>
              </a:rPr>
              <a:t>ما تم تحقيقه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40280"/>
            <a:ext cx="4480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300"/>
              </a:spcAft>
              <a:defRPr sz="1600">
                <a:solidFill>
                  <a:srgbClr val="F4F6FB"/>
                </a:solidFill>
                <a:latin typeface="Arial"/>
              </a:defRPr>
            </a:pPr>
            <a:r>
              <a:t>• أربع واجهات مترابطة</a:t>
            </a:r>
          </a:p>
          <a:p>
            <a:pPr algn="r">
              <a:spcAft>
                <a:spcPts val="1300"/>
              </a:spcAft>
              <a:defRPr sz="1600">
                <a:solidFill>
                  <a:srgbClr val="F4F6FB"/>
                </a:solidFill>
                <a:latin typeface="Arial"/>
              </a:defRPr>
            </a:pPr>
            <a:r>
              <a:t>• محللات أمنية متعددة</a:t>
            </a:r>
          </a:p>
          <a:p>
            <a:pPr algn="r">
              <a:spcAft>
                <a:spcPts val="1300"/>
              </a:spcAft>
              <a:defRPr sz="1600">
                <a:solidFill>
                  <a:srgbClr val="F4F6FB"/>
                </a:solidFill>
                <a:latin typeface="Arial"/>
              </a:defRPr>
            </a:pPr>
            <a:r>
              <a:t>• تصنيف ودرجة أمنية</a:t>
            </a:r>
          </a:p>
          <a:p>
            <a:pPr algn="r">
              <a:spcAft>
                <a:spcPts val="1300"/>
              </a:spcAft>
              <a:defRPr sz="1600">
                <a:solidFill>
                  <a:srgbClr val="F4F6FB"/>
                </a:solidFill>
                <a:latin typeface="Arial"/>
              </a:defRPr>
            </a:pPr>
            <a:r>
              <a:t>• حفظ تاريخ وتقرير PDF</a:t>
            </a:r>
          </a:p>
          <a:p>
            <a:pPr algn="r">
              <a:spcAft>
                <a:spcPts val="1300"/>
              </a:spcAft>
              <a:defRPr sz="1600">
                <a:solidFill>
                  <a:srgbClr val="F4F6FB"/>
                </a:solidFill>
                <a:latin typeface="Arial"/>
              </a:defRPr>
            </a:pPr>
            <a:r>
              <a:t>• عينات APK اصطناعية للاختبار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00D9E8"/>
                </a:solidFill>
                <a:latin typeface="Arial"/>
              </a:rPr>
              <a:t>ANDROID ANALYZER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F4F6FB"/>
                </a:solidFill>
                <a:latin typeface="Arial"/>
              </a:rPr>
              <a:t>الخلاصة والحدود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74920" cy="4480560"/>
          </a:xfrm>
          <a:prstGeom prst="roundRect">
            <a:avLst/>
          </a:prstGeom>
          <a:solidFill>
            <a:srgbClr val="12243C"/>
          </a:solidFill>
          <a:ln w="12700">
            <a:solidFill>
              <a:srgbClr val="1C8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>
                <a:solidFill>
                  <a:srgbClr val="00D9E8"/>
                </a:solidFill>
                <a:latin typeface="Arial"/>
              </a:rPr>
              <a:t>الخلاصة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300"/>
              </a:spcAft>
              <a:defRPr sz="1700">
                <a:solidFill>
                  <a:srgbClr val="F4F6FB"/>
                </a:solidFill>
                <a:latin typeface="Arial"/>
              </a:defRPr>
            </a:pPr>
            <a:r>
              <a:t>• منصة تجمع التحليل والتشفير والتقرير</a:t>
            </a:r>
          </a:p>
          <a:p>
            <a:pPr algn="r">
              <a:spcAft>
                <a:spcPts val="1300"/>
              </a:spcAft>
              <a:defRPr sz="1700">
                <a:solidFill>
                  <a:srgbClr val="F4F6FB"/>
                </a:solidFill>
                <a:latin typeface="Arial"/>
              </a:defRPr>
            </a:pPr>
            <a:r>
              <a:t>• بنية مقسمة وقابلة للتوسع</a:t>
            </a:r>
          </a:p>
          <a:p>
            <a:pPr algn="r">
              <a:spcAft>
                <a:spcPts val="1300"/>
              </a:spcAft>
              <a:defRPr sz="1700">
                <a:solidFill>
                  <a:srgbClr val="F4F6FB"/>
                </a:solidFill>
                <a:latin typeface="Arial"/>
              </a:defRPr>
            </a:pPr>
            <a:r>
              <a:t>• مخرجات مفهومة للمستخدم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074920" cy="4480560"/>
          </a:xfrm>
          <a:prstGeom prst="roundRect">
            <a:avLst/>
          </a:prstGeom>
          <a:solidFill>
            <a:srgbClr val="171B2F"/>
          </a:solidFill>
          <a:ln w="12700">
            <a:solidFill>
              <a:srgbClr val="51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>
                <a:solidFill>
                  <a:srgbClr val="FF8BA7"/>
                </a:solidFill>
                <a:latin typeface="Arial"/>
              </a:rPr>
              <a:t>حدود موثقة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300"/>
              </a:spcAft>
              <a:defRPr sz="1700">
                <a:solidFill>
                  <a:srgbClr val="F4F6FB"/>
                </a:solidFill>
                <a:latin typeface="Arial"/>
              </a:defRPr>
            </a:pPr>
            <a:r>
              <a:t>• مساران مستقلان للتشغيل</a:t>
            </a:r>
          </a:p>
          <a:p>
            <a:pPr algn="r">
              <a:spcAft>
                <a:spcPts val="1300"/>
              </a:spcAft>
              <a:defRPr sz="1700">
                <a:solidFill>
                  <a:srgbClr val="F4F6FB"/>
                </a:solidFill>
                <a:latin typeface="Arial"/>
              </a:defRPr>
            </a:pPr>
            <a:r>
              <a:t>• DEX يعتمد استخراج السلاسل</a:t>
            </a:r>
          </a:p>
          <a:p>
            <a:pPr algn="r">
              <a:spcAft>
                <a:spcPts val="1300"/>
              </a:spcAft>
              <a:defRPr sz="1700">
                <a:solidFill>
                  <a:srgbClr val="F4F6FB"/>
                </a:solidFill>
                <a:latin typeface="Arial"/>
              </a:defRPr>
            </a:pPr>
            <a:r>
              <a:t>• بعض بيانات التوقيع افتراضية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00D9E8"/>
                </a:solidFill>
                <a:latin typeface="Arial"/>
              </a:rPr>
              <a:t>ANDROID ANALYZER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F4F6FB"/>
                </a:solidFill>
                <a:latin typeface="Arial"/>
              </a:rPr>
              <a:t>شكرًا | أسئلة المناقشة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0D9E8"/>
                </a:solidFill>
                <a:latin typeface="Arial"/>
              </a:rPr>
              <a:t>أسئلة؟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2743200"/>
            <a:ext cx="9738360" cy="2148840"/>
          </a:xfrm>
          <a:prstGeom prst="roundRect">
            <a:avLst/>
          </a:prstGeom>
          <a:solidFill>
            <a:srgbClr val="121B31"/>
          </a:solidFill>
          <a:ln w="12700">
            <a:solidFill>
              <a:srgbClr val="263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2999232"/>
            <a:ext cx="9098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4F6FB"/>
                </a:solidFill>
                <a:latin typeface="Arial"/>
              </a:rPr>
              <a:t>كيف يبدأ التحليل؟  •  كيف تحسب الدرجة؟  •  ما حدود DEX؟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886200"/>
            <a:ext cx="9098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dirty="0" err="1">
                <a:solidFill>
                  <a:srgbClr val="A9B4C8"/>
                </a:solidFill>
                <a:latin typeface="Arial"/>
              </a:rPr>
              <a:t>ما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الفرق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بين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FastAPI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وHTTPServer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؟  • 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ما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أهم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تطوير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مستقبلي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15000"/>
            <a:ext cx="10607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9B4C8"/>
                </a:solidFill>
                <a:latin typeface="Arial"/>
              </a:rPr>
              <a:t>المحتوى مبني على ملفات المشروع وواجهاته واختباراته الفعلية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688</Words>
  <Application>Microsoft Office PowerPoint</Application>
  <PresentationFormat>شاشة عريضة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en albar</cp:lastModifiedBy>
  <cp:revision>2</cp:revision>
  <dcterms:created xsi:type="dcterms:W3CDTF">2013-01-27T09:14:16Z</dcterms:created>
  <dcterms:modified xsi:type="dcterms:W3CDTF">2026-09-22T19:15:49Z</dcterms:modified>
  <cp:category/>
</cp:coreProperties>
</file>